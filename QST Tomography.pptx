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</p:sldMasterIdLst>
  <p:notesMasterIdLst>
    <p:notesMasterId r:id="rId25"/>
  </p:notesMasterIdLst>
  <p:handoutMasterIdLst>
    <p:handoutMasterId r:id="rId26"/>
  </p:handoutMasterIdLst>
  <p:sldIdLst>
    <p:sldId id="256" r:id="rId13"/>
    <p:sldId id="260" r:id="rId14"/>
    <p:sldId id="266" r:id="rId15"/>
    <p:sldId id="257" r:id="rId16"/>
    <p:sldId id="262" r:id="rId17"/>
    <p:sldId id="268" r:id="rId18"/>
    <p:sldId id="263" r:id="rId19"/>
    <p:sldId id="267" r:id="rId20"/>
    <p:sldId id="261" r:id="rId21"/>
    <p:sldId id="269" r:id="rId22"/>
    <p:sldId id="264" r:id="rId23"/>
    <p:sldId id="265" r:id="rId24"/>
  </p:sldIdLst>
  <p:sldSz cx="12190413" cy="6858000"/>
  <p:notesSz cx="6858000" cy="9144000"/>
  <p:custDataLst>
    <p:tags r:id="rId2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77FDFF-9573-4EBF-87F1-CAB40C58FA42}" v="801" dt="2026-08-20T05:54:17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098" autoAdjust="0"/>
  </p:normalViewPr>
  <p:slideViewPr>
    <p:cSldViewPr showGuides="1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2.xml"/><Relationship Id="rId32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presProps" Target="pres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png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73079-109A-B151-8254-21CB5885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D1B73-873D-9679-0388-B2EF9D9F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D4DE17D-67D9-66AA-C1C4-1E8F443F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 anchor="ctr"/>
          <a:lstStyle/>
          <a:p>
            <a:pPr algn="r"/>
            <a:r>
              <a:rPr lang="en-GB">
                <a:solidFill>
                  <a:schemeClr val="bg1"/>
                </a:solidFill>
              </a:rPr>
              <a:t>Title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9">
            <a:extLst>
              <a:ext uri="{FF2B5EF4-FFF2-40B4-BE49-F238E27FC236}">
                <a16:creationId xmlns:a16="http://schemas.microsoft.com/office/drawing/2014/main" id="{CC30EE17-B077-334C-BACC-7468AC2D4EF5}"/>
              </a:ext>
            </a:extLst>
          </p:cNvPr>
          <p:cNvSpPr txBox="1">
            <a:spLocks/>
          </p:cNvSpPr>
          <p:nvPr/>
        </p:nvSpPr>
        <p:spPr bwMode="auto">
          <a:xfrm>
            <a:off x="910630" y="620080"/>
            <a:ext cx="10500031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r>
              <a:rPr lang="en-GB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other estimation techniques other than MLE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407B6-FD0D-3BCF-DAC1-FC233C1BFD88}"/>
              </a:ext>
            </a:extLst>
          </p:cNvPr>
          <p:cNvSpPr txBox="1"/>
          <p:nvPr/>
        </p:nvSpPr>
        <p:spPr>
          <a:xfrm>
            <a:off x="478582" y="1300212"/>
            <a:ext cx="6341480" cy="38985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MLE maximizes the likelihood and can be rank deficient.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eigenvalues of the density matrix: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eigenvalues due to finite sampling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 MLE for special cases, convergence is not Guaranteed.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BME do come with error bars (uncertainty) of the estimate.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295E99-699F-1F8B-FADB-D8768FF0D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405" y="4437111"/>
            <a:ext cx="5562434" cy="1838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24D7A8-4D5F-4FB1-9E2C-885417930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50" y="1309280"/>
            <a:ext cx="3572363" cy="2969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E8EB95-61B8-9E77-EABE-18A4B0363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054" y="1675339"/>
            <a:ext cx="1044030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0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701F51-76CA-6218-F57D-6D38E07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Mean Estimation for Quantum State Tomography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967E4-EADF-7E19-BEDB-3653565A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1ADD-762E-B1C4-747E-74515999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874B12-020F-62E8-AA5D-599399D3C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301" y="1286701"/>
            <a:ext cx="1809750" cy="676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6DD04B-0161-6BFD-3942-46C225FE25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50" y="2330084"/>
            <a:ext cx="1047750" cy="6762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3868D0-7C82-1E82-7728-1AAE05F37B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00" y="3219455"/>
            <a:ext cx="2590800" cy="676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2F4923A-FBC5-B238-D8AE-1CA5B574AD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526" y="4981814"/>
            <a:ext cx="2295525" cy="8858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63FD077-6F06-6153-67FF-AFCC57FBB824}"/>
              </a:ext>
            </a:extLst>
          </p:cNvPr>
          <p:cNvSpPr txBox="1"/>
          <p:nvPr/>
        </p:nvSpPr>
        <p:spPr>
          <a:xfrm>
            <a:off x="1774726" y="1018871"/>
            <a:ext cx="497732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 the data to generate a likelihood function,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82343-C74F-423C-F9F0-30D1BFC6CF9B}"/>
              </a:ext>
            </a:extLst>
          </p:cNvPr>
          <p:cNvSpPr txBox="1"/>
          <p:nvPr/>
        </p:nvSpPr>
        <p:spPr>
          <a:xfrm>
            <a:off x="1774726" y="1848252"/>
            <a:ext cx="924126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Choose a prior distribution over states. It represents the estimator’s ignorance, and should generally be chosen to be as ‘uniform’, or uninformative, as possible.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2EE837-254C-169D-06A1-4F53FA0756F5}"/>
              </a:ext>
            </a:extLst>
          </p:cNvPr>
          <p:cNvSpPr txBox="1"/>
          <p:nvPr/>
        </p:nvSpPr>
        <p:spPr>
          <a:xfrm>
            <a:off x="1702718" y="2821294"/>
            <a:ext cx="9001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Multiply the prior by the likelihood and normalize to obtain a posterior distribution,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represents the estimator’s knowledge. The proportionality constant is set by normalization.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80C60-E03B-FB57-4D07-D9B89797E620}"/>
              </a:ext>
            </a:extLst>
          </p:cNvPr>
          <p:cNvSpPr txBox="1"/>
          <p:nvPr/>
        </p:nvSpPr>
        <p:spPr>
          <a:xfrm>
            <a:off x="1702718" y="4769848"/>
            <a:ext cx="93132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Report the mean of this posterior,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best concise description of the estimator’s knowledge.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07E94A54-138A-F980-1AB7-9AE5E204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BME –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EEBD9-9F6B-7196-2EC9-B94A787DCD9D}"/>
                  </a:ext>
                </a:extLst>
              </p:cNvPr>
              <p:cNvSpPr txBox="1"/>
              <p:nvPr/>
            </p:nvSpPr>
            <p:spPr>
              <a:xfrm>
                <a:off x="5809450" y="1788682"/>
                <a:ext cx="6094602" cy="2345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probabilities assigned to unobserved events are not only nonzero, but also sensible- after N trials, it is reasonable to assume that the probability of an as-yet-unobserved outcome is at most 1/N, and to assign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1/N. This property depends on the prior.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EEBD9-9F6B-7196-2EC9-B94A787DC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50" y="1788682"/>
                <a:ext cx="6094602" cy="2345322"/>
              </a:xfrm>
              <a:prstGeom prst="rect">
                <a:avLst/>
              </a:prstGeom>
              <a:blipFill>
                <a:blip r:embed="rId2"/>
                <a:stretch>
                  <a:fillRect l="-1100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9DDCE7B-8704-40A6-C2C6-8F4E484846D6}"/>
              </a:ext>
            </a:extLst>
          </p:cNvPr>
          <p:cNvGrpSpPr/>
          <p:nvPr/>
        </p:nvGrpSpPr>
        <p:grpSpPr>
          <a:xfrm>
            <a:off x="882413" y="1162980"/>
            <a:ext cx="4536504" cy="4448391"/>
            <a:chOff x="622598" y="980728"/>
            <a:chExt cx="4536504" cy="44483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1AAF98-C6DE-985B-16F2-E84A3E6017BF}"/>
                </a:ext>
              </a:extLst>
            </p:cNvPr>
            <p:cNvGrpSpPr/>
            <p:nvPr/>
          </p:nvGrpSpPr>
          <p:grpSpPr>
            <a:xfrm>
              <a:off x="622598" y="980728"/>
              <a:ext cx="4536504" cy="4448391"/>
              <a:chOff x="550590" y="1340768"/>
              <a:chExt cx="4536504" cy="444839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F497B9-7334-F1F3-5DEC-BB3068AF6F01}"/>
                  </a:ext>
                </a:extLst>
              </p:cNvPr>
              <p:cNvSpPr txBox="1"/>
              <p:nvPr/>
            </p:nvSpPr>
            <p:spPr>
              <a:xfrm>
                <a:off x="823018" y="1966470"/>
                <a:ext cx="3322384" cy="1025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Heads: ‘b’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Tails: ‘(1-b)’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No. of Trials: ‘N’ with ‘n’ Heads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EB300-93F2-1A11-9AF7-900F1ED090A4}"/>
                  </a:ext>
                </a:extLst>
              </p:cNvPr>
              <p:cNvSpPr txBox="1"/>
              <p:nvPr/>
            </p:nvSpPr>
            <p:spPr>
              <a:xfrm>
                <a:off x="550590" y="1340768"/>
                <a:ext cx="453650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Coin flips (Bernoulli trials) </a:t>
                </a:r>
                <a:endParaRPr lang="en-US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9161462-A70E-117C-405C-9CD63B4E5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598" y="3090862"/>
                <a:ext cx="2295525" cy="676275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8289431-06E7-A075-2954-A829A49DA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598" y="3664120"/>
                <a:ext cx="1333500" cy="790575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AE6FB69-5BA2-875E-0091-BFAE8BFA4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886" y="4340395"/>
                <a:ext cx="1533525" cy="676275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A68CCC5-720C-2AE2-0369-E58DF589A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886" y="4931909"/>
                <a:ext cx="1733550" cy="8572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56C499-4319-26E4-FA1D-10B036F4D87D}"/>
                  </a:ext>
                </a:extLst>
              </p:cNvPr>
              <p:cNvSpPr txBox="1"/>
              <p:nvPr/>
            </p:nvSpPr>
            <p:spPr>
              <a:xfrm>
                <a:off x="2278782" y="4513042"/>
                <a:ext cx="20277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Uniform Choice of Prior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56C563-9633-C09E-2E1B-782B154DFAEA}"/>
                  </a:ext>
                </a:extLst>
              </p:cNvPr>
              <p:cNvSpPr txBox="1"/>
              <p:nvPr/>
            </p:nvSpPr>
            <p:spPr>
              <a:xfrm>
                <a:off x="2138411" y="3933432"/>
                <a:ext cx="13128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estimator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0AF978-ED3C-47A8-E933-915C75E90643}"/>
                  </a:ext>
                </a:extLst>
              </p:cNvPr>
              <p:cNvSpPr txBox="1"/>
              <p:nvPr/>
            </p:nvSpPr>
            <p:spPr>
              <a:xfrm>
                <a:off x="2356521" y="5237423"/>
                <a:ext cx="22978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Averaged over the Posterior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831F75-C158-00B3-D4AD-4B306B89FF8A}"/>
                </a:ext>
              </a:extLst>
            </p:cNvPr>
            <p:cNvSpPr txBox="1"/>
            <p:nvPr/>
          </p:nvSpPr>
          <p:spPr>
            <a:xfrm>
              <a:off x="2890850" y="2945848"/>
              <a:ext cx="163987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Likelihood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504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5F5EC8-72C9-2372-BED1-5E24611185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39" y="1412776"/>
            <a:ext cx="11189134" cy="46756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0B7C88-981F-48A6-B8C4-6724059F4901}"/>
              </a:ext>
            </a:extLst>
          </p:cNvPr>
          <p:cNvSpPr txBox="1"/>
          <p:nvPr/>
        </p:nvSpPr>
        <p:spPr>
          <a:xfrm>
            <a:off x="1198662" y="404664"/>
            <a:ext cx="587019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Bernoulli parameter</a:t>
            </a:r>
          </a:p>
        </p:txBody>
      </p:sp>
    </p:spTree>
    <p:extLst>
      <p:ext uri="{BB962C8B-B14F-4D97-AF65-F5344CB8AC3E}">
        <p14:creationId xmlns:p14="http://schemas.microsoft.com/office/powerpoint/2010/main" val="350921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78BE5-6725-85E1-73C8-CE7C770604C2}"/>
                  </a:ext>
                </a:extLst>
              </p:cNvPr>
              <p:cNvSpPr txBox="1"/>
              <p:nvPr/>
            </p:nvSpPr>
            <p:spPr>
              <a:xfrm>
                <a:off x="982638" y="908396"/>
                <a:ext cx="98650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computes the average value of a distribution/function (in this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ρ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over an integration measure.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78BE5-6725-85E1-73C8-CE7C7706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38" y="908396"/>
                <a:ext cx="9865096" cy="707886"/>
              </a:xfrm>
              <a:prstGeom prst="rect">
                <a:avLst/>
              </a:prstGeom>
              <a:blipFill>
                <a:blip r:embed="rId2"/>
                <a:stretch>
                  <a:fillRect l="-61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9">
            <a:extLst>
              <a:ext uri="{FF2B5EF4-FFF2-40B4-BE49-F238E27FC236}">
                <a16:creationId xmlns:a16="http://schemas.microsoft.com/office/drawing/2014/main" id="{F1BA15EC-884F-9E6D-1035-4606BC3E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Metropolis-Hastings way of Integrating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0D37F0-7356-EBC7-1ACD-62D5D05C3073}"/>
              </a:ext>
            </a:extLst>
          </p:cNvPr>
          <p:cNvSpPr txBox="1"/>
          <p:nvPr/>
        </p:nvSpPr>
        <p:spPr>
          <a:xfrm>
            <a:off x="1070422" y="1639064"/>
            <a:ext cx="390010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by a simple jumping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8A713C-D689-7148-A6D1-F8C7A7525A4D}"/>
                  </a:ext>
                </a:extLst>
              </p:cNvPr>
              <p:cNvSpPr txBox="1"/>
              <p:nvPr/>
            </p:nvSpPr>
            <p:spPr>
              <a:xfrm>
                <a:off x="5163714" y="1633468"/>
                <a:ext cx="39998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jump operator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8A713C-D689-7148-A6D1-F8C7A7525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714" y="1633468"/>
                <a:ext cx="3999878" cy="307777"/>
              </a:xfrm>
              <a:prstGeom prst="rect">
                <a:avLst/>
              </a:prstGeom>
              <a:blipFill>
                <a:blip r:embed="rId3"/>
                <a:stretch>
                  <a:fillRect l="-2287" t="-26000" r="-320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FEB8EAC2-FD7D-5943-B60E-89FF1D38D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31" y="2486675"/>
            <a:ext cx="1838325" cy="9239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CBDEF6-C0B2-D5B1-C7A3-93D8B0760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480" y="1969623"/>
            <a:ext cx="2781300" cy="6762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310FC2B-8234-1EEE-6326-56FA06868CE2}"/>
              </a:ext>
            </a:extLst>
          </p:cNvPr>
          <p:cNvSpPr txBox="1"/>
          <p:nvPr/>
        </p:nvSpPr>
        <p:spPr>
          <a:xfrm>
            <a:off x="1076722" y="3443447"/>
            <a:ext cx="101826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 &gt;1 (ρ′ is more likely than ρ), then we jump as before. If not, we jump to ρ′ with probability r, and stay at ρ (adding it, once again, to the running total) with probability 1−r.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F3044-7759-992B-0D15-7EC7A8FD9B2B}"/>
              </a:ext>
            </a:extLst>
          </p:cNvPr>
          <p:cNvSpPr txBox="1"/>
          <p:nvPr/>
        </p:nvSpPr>
        <p:spPr>
          <a:xfrm>
            <a:off x="1050054" y="4438758"/>
            <a:ext cx="103533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biasing ensures that the algorithm spends more time at more likely spots and tends to climb up into regions of high probability.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652EEF-E2B3-0594-4B83-F6B4A562591F}"/>
                  </a:ext>
                </a:extLst>
              </p:cNvPr>
              <p:cNvSpPr txBox="1"/>
              <p:nvPr/>
            </p:nvSpPr>
            <p:spPr>
              <a:xfrm>
                <a:off x="6462869" y="2818074"/>
                <a:ext cx="343876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this r-factor for consecutive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652EEF-E2B3-0594-4B83-F6B4A562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869" y="2818074"/>
                <a:ext cx="3438762" cy="246221"/>
              </a:xfrm>
              <a:prstGeom prst="rect">
                <a:avLst/>
              </a:prstGeom>
              <a:blipFill>
                <a:blip r:embed="rId6"/>
                <a:stretch>
                  <a:fillRect l="-3546" t="-24390" r="-532"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81FAA97-990C-27EA-812E-C7EE66300FD4}"/>
              </a:ext>
            </a:extLst>
          </p:cNvPr>
          <p:cNvSpPr txBox="1"/>
          <p:nvPr/>
        </p:nvSpPr>
        <p:spPr>
          <a:xfrm>
            <a:off x="1099835" y="5494050"/>
            <a:ext cx="103970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important is that J should generate the underlying measure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(uniform sampling in this case).</a:t>
            </a:r>
          </a:p>
        </p:txBody>
      </p:sp>
    </p:spTree>
    <p:extLst>
      <p:ext uri="{BB962C8B-B14F-4D97-AF65-F5344CB8AC3E}">
        <p14:creationId xmlns:p14="http://schemas.microsoft.com/office/powerpoint/2010/main" val="204163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98934D-918C-9A95-1D91-39FA5803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32"/>
            <a:ext cx="7182991" cy="6308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0E2B22-CD32-ABA5-8AA2-88182568F7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06812" y="1982413"/>
            <a:ext cx="6308200" cy="275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3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907B-7468-1BC2-3056-A7975E73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5E3F-5FEC-ABA8-71D2-FC44E10C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B66B-9422-ABB2-44C4-FD31389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1074F4E1-4F7D-26BF-04D2-45974A9F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Jump?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4BF-3D2F-8B74-7A29-C9CE3C5BBA37}"/>
              </a:ext>
            </a:extLst>
          </p:cNvPr>
          <p:cNvSpPr txBox="1"/>
          <p:nvPr/>
        </p:nvSpPr>
        <p:spPr>
          <a:xfrm>
            <a:off x="985648" y="1123561"/>
            <a:ext cx="983632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One way to do that is to generate random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Haar measure, generating random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computationally hard and it is only applicable for states with same purity. It doesn’t explore the full state-space.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9E5449-CCB6-DF53-473D-5978F87751F1}"/>
                  </a:ext>
                </a:extLst>
              </p:cNvPr>
              <p:cNvSpPr txBox="1"/>
              <p:nvPr/>
            </p:nvSpPr>
            <p:spPr>
              <a:xfrm>
                <a:off x="985648" y="2237819"/>
                <a:ext cx="10149923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One way to do that is to local random walk rule on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at each step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generated by tracing out ancillary system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𝑑𝑖𝑚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generates complete random evolution in local state-space of density matrices.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9E5449-CCB6-DF53-473D-5978F877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48" y="2237819"/>
                <a:ext cx="10149923" cy="923330"/>
              </a:xfrm>
              <a:prstGeom prst="rect">
                <a:avLst/>
              </a:prstGeom>
              <a:blipFill>
                <a:blip r:embed="rId2"/>
                <a:stretch>
                  <a:fillRect l="-1562" t="-8553" r="-19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27FD6D-F5B5-E8EC-311A-B0C8A88B789C}"/>
                  </a:ext>
                </a:extLst>
              </p:cNvPr>
              <p:cNvSpPr txBox="1"/>
              <p:nvPr/>
            </p:nvSpPr>
            <p:spPr>
              <a:xfrm>
                <a:off x="1171424" y="5160703"/>
                <a:ext cx="946477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good heuristic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 be chosen such that the acceptance ratio should be around 60%.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27FD6D-F5B5-E8EC-311A-B0C8A88B7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24" y="5160703"/>
                <a:ext cx="9464770" cy="307777"/>
              </a:xfrm>
              <a:prstGeom prst="rect">
                <a:avLst/>
              </a:prstGeom>
              <a:blipFill>
                <a:blip r:embed="rId3"/>
                <a:stretch>
                  <a:fillRect l="-1610" t="-26000" r="-77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D72B7C6-4686-C3B9-0746-10DE5B3F5E8A}"/>
              </a:ext>
            </a:extLst>
          </p:cNvPr>
          <p:cNvGrpSpPr/>
          <p:nvPr/>
        </p:nvGrpSpPr>
        <p:grpSpPr>
          <a:xfrm>
            <a:off x="1634163" y="3356992"/>
            <a:ext cx="8539292" cy="1922077"/>
            <a:chOff x="1769813" y="2989784"/>
            <a:chExt cx="8539292" cy="19220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9B2A3D-D8A1-364D-05E3-9D89DE610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9813" y="2989784"/>
              <a:ext cx="1974838" cy="131967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E9DCBEF-2F9E-674A-B5A1-4FDC9D675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574" y="2989784"/>
              <a:ext cx="1809750" cy="6762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5A2BDD-9D08-055A-8F88-9512613ABE60}"/>
                </a:ext>
              </a:extLst>
            </p:cNvPr>
            <p:cNvSpPr txBox="1"/>
            <p:nvPr/>
          </p:nvSpPr>
          <p:spPr>
            <a:xfrm>
              <a:off x="7550092" y="3288484"/>
              <a:ext cx="6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US" dirty="0">
                <a:latin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838C2A-7597-D55B-86AC-EF46DD01A63E}"/>
                    </a:ext>
                  </a:extLst>
                </p:cNvPr>
                <p:cNvSpPr txBox="1"/>
                <p:nvPr/>
              </p:nvSpPr>
              <p:spPr>
                <a:xfrm>
                  <a:off x="4576574" y="3649977"/>
                  <a:ext cx="5732531" cy="12618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is the distance parameter chosen from a distribution</a:t>
                  </a:r>
                </a:p>
                <a:p>
                  <a:pPr algn="l">
                    <a:spcBef>
                      <a:spcPts val="432"/>
                    </a:spcBef>
                  </a:pP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〉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〉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depends on the likelihood function.</a:t>
                  </a:r>
                </a:p>
                <a:p>
                  <a:pPr algn="l">
                    <a:spcBef>
                      <a:spcPts val="432"/>
                    </a:spcBef>
                  </a:pPr>
                  <a:endPara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l">
                    <a:spcBef>
                      <a:spcPts val="432"/>
                    </a:spcBef>
                  </a:pPr>
                  <a:endParaRPr 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838C2A-7597-D55B-86AC-EF46DD01A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6574" y="3649977"/>
                  <a:ext cx="5732531" cy="1261884"/>
                </a:xfrm>
                <a:prstGeom prst="rect">
                  <a:avLst/>
                </a:prstGeom>
                <a:blipFill>
                  <a:blip r:embed="rId6"/>
                  <a:stretch>
                    <a:fillRect l="-1488" t="-6280" r="-9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3DA533-8FC5-43CD-E09C-A8E9B34EA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558" t="3986"/>
            <a:stretch>
              <a:fillRect/>
            </a:stretch>
          </p:blipFill>
          <p:spPr>
            <a:xfrm>
              <a:off x="1803331" y="4280919"/>
              <a:ext cx="864031" cy="40749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072C56-B8CD-A24D-D96C-E3253035564B}"/>
                </a:ext>
              </a:extLst>
            </p:cNvPr>
            <p:cNvSpPr txBox="1"/>
            <p:nvPr/>
          </p:nvSpPr>
          <p:spPr>
            <a:xfrm>
              <a:off x="2700880" y="4279277"/>
              <a:ext cx="92493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subspace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3CC33-ECC8-7F94-48FD-AB6A7E2CB355}"/>
                  </a:ext>
                </a:extLst>
              </p:cNvPr>
              <p:cNvSpPr txBox="1"/>
              <p:nvPr/>
            </p:nvSpPr>
            <p:spPr>
              <a:xfrm>
                <a:off x="6122876" y="3554895"/>
                <a:ext cx="7096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3CC33-ECC8-7F94-48FD-AB6A7E2CB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876" y="3554895"/>
                <a:ext cx="709681" cy="246221"/>
              </a:xfrm>
              <a:prstGeom prst="rect">
                <a:avLst/>
              </a:prstGeom>
              <a:blipFill>
                <a:blip r:embed="rId8"/>
                <a:stretch>
                  <a:fillRect l="-8547" r="-8547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78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1C80C3-B9DF-10FA-D8B1-04700D69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" y="2711438"/>
            <a:ext cx="9749079" cy="3528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E68D5-66F2-7AC8-2CAE-494B3D00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70" y="47142"/>
            <a:ext cx="5396907" cy="2664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8FB8F9-0550-EEDF-4799-FA31C424F307}"/>
              </a:ext>
            </a:extLst>
          </p:cNvPr>
          <p:cNvSpPr txBox="1"/>
          <p:nvPr/>
        </p:nvSpPr>
        <p:spPr>
          <a:xfrm>
            <a:off x="1270670" y="404664"/>
            <a:ext cx="3947684" cy="9746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for a single</a:t>
            </a:r>
          </a:p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qubit system</a:t>
            </a:r>
          </a:p>
        </p:txBody>
      </p:sp>
    </p:spTree>
    <p:extLst>
      <p:ext uri="{BB962C8B-B14F-4D97-AF65-F5344CB8AC3E}">
        <p14:creationId xmlns:p14="http://schemas.microsoft.com/office/powerpoint/2010/main" val="339412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E0FC3327-4C04-1B0B-CE35-470D3E19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is Messy-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682F73-37C4-2667-6B46-9163A3477269}"/>
                  </a:ext>
                </a:extLst>
              </p:cNvPr>
              <p:cNvSpPr txBox="1"/>
              <p:nvPr/>
            </p:nvSpPr>
            <p:spPr>
              <a:xfrm>
                <a:off x="838621" y="980728"/>
                <a:ext cx="11100427" cy="62581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We start with a maximally mixed state and try to reconstruct the state using the experimental simulated data.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Profile it into angles and bins and calculate the likelihood function from the experimental data.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The thing is we don’t need a Prior, the M-H generates an uniform prior (approx.) in the simulation. However, this is not so good choice of prior since we work with truncated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where lower number states has higher occupancy.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We introduce the parameters for the M-H algorithm, </a:t>
                </a:r>
              </a:p>
              <a:p>
                <a:pPr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jump width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Burn in: No. of initial samples rejected (As those may be not good estimates unless a lucky guess).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Samples: True number of retain samples (on which averaging is done).</a:t>
                </a:r>
              </a:p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Thin: number of MH steps between consecutive samples retained from the chain.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682F73-37C4-2667-6B46-9163A347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1" y="980728"/>
                <a:ext cx="11100427" cy="6258123"/>
              </a:xfrm>
              <a:prstGeom prst="rect">
                <a:avLst/>
              </a:prstGeom>
              <a:blipFill>
                <a:blip r:embed="rId2"/>
                <a:stretch>
                  <a:fillRect l="-1428" t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73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8BC27C-93C2-4ED3-06F3-B2637CF0C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58" y="116632"/>
            <a:ext cx="6321408" cy="635317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B52881-ED91-CEAE-B94A-9571F4AACAAB}"/>
              </a:ext>
            </a:extLst>
          </p:cNvPr>
          <p:cNvSpPr txBox="1"/>
          <p:nvPr/>
        </p:nvSpPr>
        <p:spPr>
          <a:xfrm>
            <a:off x="406574" y="2677666"/>
            <a:ext cx="437299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BME</a:t>
            </a:r>
          </a:p>
        </p:txBody>
      </p:sp>
    </p:spTree>
    <p:extLst>
      <p:ext uri="{BB962C8B-B14F-4D97-AF65-F5344CB8AC3E}">
        <p14:creationId xmlns:p14="http://schemas.microsoft.com/office/powerpoint/2010/main" val="4235603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SlideTemplateConfiguration><![CDATA[{"elementsMetadata":[],"documentContentValidatorConfiguration":{"enableDocumentContentValidator":false,"documentContentValidatorVersion":0},"slideId":"636957680393236694","enableDocumentContentUpdater":true,"version":"1.2"}]]></TemplafySlideTemplateConfiguration>
</file>

<file path=customXml/item3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TemplafySlideFormConfiguration><![CDATA[{"formFields":[],"formDataEntries":[]}]]></TemplafySlideFormConfiguration>
</file>

<file path=customXml/item1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AB1340-5A73-4AE5-9657-061F0D1699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7AE696-61B6-4B19-9CED-6F2A3F244FE3}">
  <ds:schemaRefs/>
</ds:datastoreItem>
</file>

<file path=customXml/itemProps3.xml><?xml version="1.0" encoding="utf-8"?>
<ds:datastoreItem xmlns:ds="http://schemas.openxmlformats.org/officeDocument/2006/customXml" ds:itemID="{CA9FC985-930B-40D4-827F-9FAC5D35EA8C}">
  <ds:schemaRefs/>
</ds:datastoreItem>
</file>

<file path=customXml/itemProps4.xml><?xml version="1.0" encoding="utf-8"?>
<ds:datastoreItem xmlns:ds="http://schemas.openxmlformats.org/officeDocument/2006/customXml" ds:itemID="{43763224-B85A-4B53-A86A-261D26A71C30}">
  <ds:schemaRefs/>
</ds:datastoreItem>
</file>

<file path=customXml/itemProps5.xml><?xml version="1.0" encoding="utf-8"?>
<ds:datastoreItem xmlns:ds="http://schemas.openxmlformats.org/officeDocument/2006/customXml" ds:itemID="{5DEE4BEE-00BA-4E32-BD26-AF535B50AC95}">
  <ds:schemaRefs/>
</ds:datastoreItem>
</file>

<file path=customXml/itemProps6.xml><?xml version="1.0" encoding="utf-8"?>
<ds:datastoreItem xmlns:ds="http://schemas.openxmlformats.org/officeDocument/2006/customXml" ds:itemID="{1334258C-C3E7-4029-A615-C886A240FB15}">
  <ds:schemaRefs/>
</ds:datastoreItem>
</file>

<file path=customXml/itemProps7.xml><?xml version="1.0" encoding="utf-8"?>
<ds:datastoreItem xmlns:ds="http://schemas.openxmlformats.org/officeDocument/2006/customXml" ds:itemID="{1680B9DC-2D51-4402-BB2C-B8DE0C5AC522}">
  <ds:schemaRefs/>
</ds:datastoreItem>
</file>

<file path=customXml/itemProps8.xml><?xml version="1.0" encoding="utf-8"?>
<ds:datastoreItem xmlns:ds="http://schemas.openxmlformats.org/officeDocument/2006/customXml" ds:itemID="{6B8AD017-B053-4E30-93B9-B28A44CEC3A4}">
  <ds:schemaRefs/>
</ds:datastoreItem>
</file>

<file path=customXml/itemProps9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9587AFF5-BFB0-40A3-85CA-ADEED7540807}">
  <ds:schemaRefs/>
</ds:datastoreItem>
</file>

<file path=customXml/itemProps11.xml><?xml version="1.0" encoding="utf-8"?>
<ds:datastoreItem xmlns:ds="http://schemas.openxmlformats.org/officeDocument/2006/customXml" ds:itemID="{CD7A73E0-5E80-4908-B0DB-9E20244FD02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Template 16_9 - Corporate red-ENG</Template>
  <TotalTime>642</TotalTime>
  <Words>750</Words>
  <Application>Microsoft Office PowerPoint</Application>
  <PresentationFormat>Custom</PresentationFormat>
  <Paragraphs>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Times New Roman</vt:lpstr>
      <vt:lpstr>Verdana</vt:lpstr>
      <vt:lpstr>Blank</vt:lpstr>
      <vt:lpstr>PowerPoint Presentation</vt:lpstr>
      <vt:lpstr>PowerPoint Presentation</vt:lpstr>
      <vt:lpstr>PowerPoint Presentation</vt:lpstr>
      <vt:lpstr>Bayesian Mean Estimation for Quantum State Tomography </vt:lpstr>
      <vt:lpstr>An Example of BME –  </vt:lpstr>
      <vt:lpstr>PowerPoint Presentation</vt:lpstr>
      <vt:lpstr>The Metropolis-Hastings way of Integrating </vt:lpstr>
      <vt:lpstr>PowerPoint Presentation</vt:lpstr>
      <vt:lpstr>How do we Jump? </vt:lpstr>
      <vt:lpstr>PowerPoint Presentation</vt:lpstr>
      <vt:lpstr>The Code is Messy- </vt:lpstr>
      <vt:lpstr>PowerPoint Presentation</vt:lpstr>
    </vt:vector>
  </TitlesOfParts>
  <Company>Technical University of Denmark - 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Sengupta</dc:creator>
  <cp:lastModifiedBy>Aniket Sengupta</cp:lastModifiedBy>
  <cp:revision>2</cp:revision>
  <dcterms:created xsi:type="dcterms:W3CDTF">2026-08-19T13:27:51Z</dcterms:created>
  <dcterms:modified xsi:type="dcterms:W3CDTF">2026-08-20T08:45:24Z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0x0101009ADA1FD2B40FDA458284BB6FCA763489</vt:lpwstr>
  </property>
</Properties>
</file>